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111"/>
    <a:srgbClr val="FF6A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45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8" Type="http://schemas.openxmlformats.org/officeDocument/2006/relationships/image" Target="../media/ico-image6.png"/><Relationship Id="rId3" Type="http://schemas.openxmlformats.org/officeDocument/2006/relationships/image" Target="../media/image1.jpg"/><Relationship Id="rId7" Type="http://schemas.openxmlformats.org/officeDocument/2006/relationships/image" Target="../media/ico-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4.png"/><Relationship Id="rId11" Type="http://schemas.openxmlformats.org/officeDocument/2006/relationships/image" Target="../media/ico-image9.png"/><Relationship Id="rId5" Type="http://schemas.openxmlformats.org/officeDocument/2006/relationships/image" Target="../media/ico-image3.png"/><Relationship Id="rId10" Type="http://schemas.openxmlformats.org/officeDocument/2006/relationships/image" Target="../media/ico-image8.png"/><Relationship Id="rId4" Type="http://schemas.openxmlformats.org/officeDocument/2006/relationships/image" Target="../media/ico-image2.png"/><Relationship Id="rId9" Type="http://schemas.openxmlformats.org/officeDocument/2006/relationships/image" Target="../media/ico-image7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4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co-image37.png"/><Relationship Id="rId4" Type="http://schemas.openxmlformats.org/officeDocument/2006/relationships/image" Target="../media/image36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35.png"/><Relationship Id="rId5" Type="http://schemas.openxmlformats.org/officeDocument/2006/relationships/image" Target="../media/image40.png"/><Relationship Id="rId4" Type="http://schemas.openxmlformats.org/officeDocument/2006/relationships/image" Target="../media/ico-image32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37.png"/><Relationship Id="rId5" Type="http://schemas.openxmlformats.org/officeDocument/2006/relationships/image" Target="../media/ico-image39.png"/><Relationship Id="rId4" Type="http://schemas.openxmlformats.org/officeDocument/2006/relationships/image" Target="../media/image42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35.png"/><Relationship Id="rId5" Type="http://schemas.openxmlformats.org/officeDocument/2006/relationships/image" Target="../media/ico-image32.png"/><Relationship Id="rId4" Type="http://schemas.openxmlformats.org/officeDocument/2006/relationships/image" Target="../media/image44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co-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co-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1D415F2D-4B61-E71E-6023-8E003983B766}"/>
              </a:ext>
            </a:extLst>
          </p:cNvPr>
          <p:cNvSpPr/>
          <p:nvPr/>
        </p:nvSpPr>
        <p:spPr>
          <a:xfrm>
            <a:off x="11505858" y="3919221"/>
            <a:ext cx="1188720" cy="1117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90597069-5967-5691-5676-42A09B18E728}"/>
              </a:ext>
            </a:extLst>
          </p:cNvPr>
          <p:cNvSpPr/>
          <p:nvPr/>
        </p:nvSpPr>
        <p:spPr>
          <a:xfrm>
            <a:off x="-376262" y="157341"/>
            <a:ext cx="1188720" cy="1117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3"/>
          <p:cNvSpPr txBox="1"/>
          <p:nvPr/>
        </p:nvSpPr>
        <p:spPr>
          <a:xfrm rot="600000">
            <a:off x="-1426536" y="20732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4709160" y="640080"/>
            <a:ext cx="2743200" cy="274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82C3F"/>
            </a:solidFill>
            <a:prstDash val="solid"/>
          </a:ln>
          <a:effectLst>
            <a:outerShdw blurRad="1016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277360" y="640080"/>
            <a:ext cx="3495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0" dirty="0"/>
          </a:p>
        </p:txBody>
      </p:sp>
      <p:sp>
        <p:nvSpPr>
          <p:cNvPr id="21" name="Text 19"/>
          <p:cNvSpPr txBox="1"/>
          <p:nvPr/>
        </p:nvSpPr>
        <p:spPr>
          <a:xfrm>
            <a:off x="6560463" y="2651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611880"/>
            <a:ext cx="10698480" cy="960120"/>
          </a:xfrm>
          <a:prstGeom prst="rect">
            <a:avLst/>
          </a:prstGeom>
          <a:noFill/>
          <a:ln/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Swiggy SQL Analytics</a:t>
            </a:r>
            <a:endParaRPr lang="en-US" sz="4600" dirty="0">
              <a:latin typeface="Comic Sans MS" panose="030F0702030302020204" pitchFamily="66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651760" y="4617720"/>
            <a:ext cx="6858000" cy="621792"/>
          </a:xfrm>
          <a:prstGeom prst="roundRect">
            <a:avLst>
              <a:gd name="adj" fmla="val 47059"/>
            </a:avLst>
          </a:prstGeom>
          <a:solidFill>
            <a:srgbClr val="282C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595880" y="4615492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Cooking up insights with sophisticated SQL joins 🍲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E8CF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A Data Analysis Case Study  |  Customers · Orders · Restaurants · Delivery Partners</a:t>
            </a:r>
            <a:endParaRPr lang="en-US" sz="15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0D0137E-AE7B-AFBA-313E-5BE850FF2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680" y="711200"/>
            <a:ext cx="2575203" cy="2562352"/>
          </a:xfrm>
          <a:prstGeom prst="flowChartConnector">
            <a:avLst/>
          </a:prstGeom>
        </p:spPr>
      </p:pic>
      <p:sp>
        <p:nvSpPr>
          <p:cNvPr id="30" name="Shape 18">
            <a:extLst>
              <a:ext uri="{FF2B5EF4-FFF2-40B4-BE49-F238E27FC236}">
                <a16:creationId xmlns:a16="http://schemas.microsoft.com/office/drawing/2014/main" id="{52032BC5-963B-5BF4-96EB-6936F122193C}"/>
              </a:ext>
            </a:extLst>
          </p:cNvPr>
          <p:cNvSpPr/>
          <p:nvPr/>
        </p:nvSpPr>
        <p:spPr>
          <a:xfrm>
            <a:off x="6683832" y="2651761"/>
            <a:ext cx="868680" cy="802639"/>
          </a:xfrm>
          <a:prstGeom prst="ellipse">
            <a:avLst/>
          </a:prstGeom>
          <a:solidFill>
            <a:srgbClr val="FC8019"/>
          </a:solidFill>
          <a:ln w="38100">
            <a:solidFill>
              <a:schemeClr val="tx1"/>
            </a:solidFill>
            <a:prstDash val="solid"/>
          </a:ln>
        </p:spPr>
        <p:txBody>
          <a:bodyPr/>
          <a:lstStyle/>
          <a:p>
            <a:pPr algn="just"/>
            <a:r>
              <a:rPr lang="en-IN" sz="2800" dirty="0"/>
              <a:t> </a:t>
            </a:r>
            <a:r>
              <a:rPr lang="en-IN" sz="28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S</a:t>
            </a:r>
            <a:endParaRPr lang="en-IN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487C1E1-6771-0F69-3581-BB6ABE3B2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9832" y="270130"/>
            <a:ext cx="882140" cy="882140"/>
          </a:xfrm>
          <a:prstGeom prst="rect">
            <a:avLst/>
          </a:prstGeom>
        </p:spPr>
      </p:pic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D8DB9C2E-474E-89DF-4C8F-9A55998DF9BB}"/>
              </a:ext>
            </a:extLst>
          </p:cNvPr>
          <p:cNvSpPr/>
          <p:nvPr/>
        </p:nvSpPr>
        <p:spPr>
          <a:xfrm>
            <a:off x="-268193" y="2045240"/>
            <a:ext cx="1188720" cy="1074361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997AD5B-B0AD-A795-3B65-127C7AD22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9212" y="3989054"/>
            <a:ext cx="1002896" cy="1002896"/>
          </a:xfrm>
          <a:prstGeom prst="rect">
            <a:avLst/>
          </a:prstGeom>
        </p:spPr>
      </p:pic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3A8B93FE-3A72-DB45-80E6-FE834F13F544}"/>
              </a:ext>
            </a:extLst>
          </p:cNvPr>
          <p:cNvSpPr/>
          <p:nvPr/>
        </p:nvSpPr>
        <p:spPr>
          <a:xfrm>
            <a:off x="-426720" y="3929312"/>
            <a:ext cx="1188720" cy="1117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F2D3F79-77CB-6FAA-49CD-A79A5E4911D2}"/>
              </a:ext>
            </a:extLst>
          </p:cNvPr>
          <p:cNvSpPr/>
          <p:nvPr/>
        </p:nvSpPr>
        <p:spPr>
          <a:xfrm>
            <a:off x="-457200" y="5704840"/>
            <a:ext cx="1188720" cy="1117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A5E68DB7-2927-3F36-29EB-80FC2C20549C}"/>
              </a:ext>
            </a:extLst>
          </p:cNvPr>
          <p:cNvSpPr/>
          <p:nvPr/>
        </p:nvSpPr>
        <p:spPr>
          <a:xfrm>
            <a:off x="11236618" y="5854561"/>
            <a:ext cx="1188720" cy="1117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D600C50D-96A7-2FD5-A1B3-A9A53A8B751C}"/>
              </a:ext>
            </a:extLst>
          </p:cNvPr>
          <p:cNvSpPr/>
          <p:nvPr/>
        </p:nvSpPr>
        <p:spPr>
          <a:xfrm>
            <a:off x="11003280" y="1821180"/>
            <a:ext cx="1188720" cy="1117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67941D43-712B-E51A-AEE5-2F62FA5C0B53}"/>
              </a:ext>
            </a:extLst>
          </p:cNvPr>
          <p:cNvSpPr/>
          <p:nvPr/>
        </p:nvSpPr>
        <p:spPr>
          <a:xfrm>
            <a:off x="11397614" y="-45859"/>
            <a:ext cx="1188720" cy="1117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4C363597-2F6A-C710-6F6F-AB91FD1A47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7764" y="53971"/>
            <a:ext cx="882140" cy="88214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28A6B0CC-C8A6-8CF6-C107-3173DB0E8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07845" y="4031663"/>
            <a:ext cx="970354" cy="97035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698CAFD8-B2A5-48C1-2D2D-AB62E53037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7967" y="2100470"/>
            <a:ext cx="882140" cy="88214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8B7FDAA-1255-E329-11B9-888A02FF37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94507" y="1976510"/>
            <a:ext cx="882140" cy="88214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D9616BE-A908-1FCC-6215-5CB23BBFF8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24488" y="5835322"/>
            <a:ext cx="882140" cy="88214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D1B13F1D-A406-5753-593A-9C147196C2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16396" y="5878098"/>
            <a:ext cx="1029164" cy="1029164"/>
          </a:xfrm>
          <a:prstGeom prst="rect">
            <a:avLst/>
          </a:prstGeom>
        </p:spPr>
      </p:pic>
      <p:sp>
        <p:nvSpPr>
          <p:cNvPr id="3" name="Shape 21">
            <a:extLst>
              <a:ext uri="{FF2B5EF4-FFF2-40B4-BE49-F238E27FC236}">
                <a16:creationId xmlns:a16="http://schemas.microsoft.com/office/drawing/2014/main" id="{E55D0FAE-F369-ADE1-5C47-90D469F6B1FE}"/>
              </a:ext>
            </a:extLst>
          </p:cNvPr>
          <p:cNvSpPr/>
          <p:nvPr/>
        </p:nvSpPr>
        <p:spPr>
          <a:xfrm>
            <a:off x="3853001" y="6102465"/>
            <a:ext cx="4480560" cy="621792"/>
          </a:xfrm>
          <a:prstGeom prst="roundRect">
            <a:avLst>
              <a:gd name="adj" fmla="val 47059"/>
            </a:avLst>
          </a:prstGeom>
          <a:solidFill>
            <a:srgbClr val="282C3F"/>
          </a:solidFill>
          <a:ln/>
        </p:spPr>
        <p:txBody>
          <a:bodyPr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By Varshitha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/>
          <p:cNvSpPr txBox="1"/>
          <p:nvPr/>
        </p:nvSpPr>
        <p:spPr>
          <a:xfrm>
            <a:off x="1041400" y="4114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What's Cooking in This Deck 🍳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65A00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A quick appetizer before the main SQL course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9050">
            <a:solidFill>
              <a:srgbClr val="FC8019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5A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🛵  About Swiggy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22402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is one of India's leading on-demand delivery platforms, connecting millions of customers with restaurants and delivery partners across the country. Every order placed generates rich data — customers, restaurants, ratings, orders and deliveries — that, when queried well, tells a powerful business story.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2062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4652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65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📊  About This Analysis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22402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ea typeface="Calibri" pitchFamily="34" charset="-122"/>
                <a:cs typeface="Times New Roman" panose="02020603050405020304" pitchFamily="18" charset="0"/>
              </a:rPr>
              <a:t>This case study uses sophisticated SQL — joins, aggregations, GROUP BY, HAVING— across Swiggy's Customers, Orders, Restaurants and Delivery datasets to answer 13 real business questions, from spotting top-rated restaurants to finding delivery partners with the widest reach to customer.</a:t>
            </a:r>
            <a:endParaRPr lang="en-US" sz="1400" dirty="0"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446520" y="42976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Customer behaviour &amp; loyalty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Restaurant performance &amp; ratings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Delivery partner reliability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City-level trends (Delhi, Mumbai)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8B4118D-2963-43A3-0824-BE59CB7A5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20" y="2969071"/>
            <a:ext cx="2025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A3BF5FD-68CD-3F74-15D0-5EE1821E7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9CEEB1F2-F23C-6895-5E46-F95C4672BED0}"/>
              </a:ext>
            </a:extLst>
          </p:cNvPr>
          <p:cNvSpPr/>
          <p:nvPr/>
        </p:nvSpPr>
        <p:spPr>
          <a:xfrm>
            <a:off x="10284460" y="-21336"/>
            <a:ext cx="1872000" cy="1584000"/>
          </a:xfrm>
          <a:prstGeom prst="flowChartConnector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🍛 Delhi Diners: Who's Ordering from the Capital?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87120" y="1078992"/>
            <a:ext cx="1057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customers who live in 'Delhi'.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87120" y="1444752"/>
            <a:ext cx="10498328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Delhi customer base to plan region-specific marketing and fleet capacity.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5" name="Image 0" descr="/home/claude/swiggy/img/Screenshot_2026-09-07_16230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" y="2542032"/>
            <a:ext cx="5294376" cy="37033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9" name="Image 1" descr="/home/claude/swiggy/img/Screenshot_2026-09-07_16234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2542032"/>
            <a:ext cx="5294376" cy="3630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AC2519A-9E71-ECAB-FAF8-2F2FACE1C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4700" y="386432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4C3E178-F007-FB37-7997-C21BFAD9A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1117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 Mumbai's Foodie Verdict: Average Restaurant Ratings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61288" y="10789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average rating of all restaurants in 'Mumbai'.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76960" y="1444752"/>
            <a:ext cx="1058164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overall restaurant quality in Mumbai to guide quality control and city-level promotions.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720000">
            <a:off x="45720" y="5943600"/>
            <a:ext cx="411480" cy="411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91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720000">
            <a:off x="4572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5" name="Image 0" descr="/home/claude/swiggy/img/Screenshot_2026-09-07_16243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" y="2542032"/>
            <a:ext cx="5294376" cy="36301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9" name="Image 1" descr="/home/claude/swiggy/img/Screenshot_2026-09-07_16244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2542032"/>
            <a:ext cx="5294376" cy="3630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3B1E5CF9-63E7-7696-533D-7ECD86C5973D}"/>
              </a:ext>
            </a:extLst>
          </p:cNvPr>
          <p:cNvSpPr/>
          <p:nvPr/>
        </p:nvSpPr>
        <p:spPr>
          <a:xfrm>
            <a:off x="-131640" y="5753362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B4C2834F-A0BD-AE30-55D4-E4E311780118}"/>
              </a:ext>
            </a:extLst>
          </p:cNvPr>
          <p:cNvSpPr/>
          <p:nvPr/>
        </p:nvSpPr>
        <p:spPr>
          <a:xfrm>
            <a:off x="11201400" y="-199255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43886AB-7ED9-A484-1609-AA8BB7CEC6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7432" y="122098"/>
            <a:ext cx="731520" cy="7315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2BB3BCD-51EC-5238-11B0-61ABAFA528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16" y="5961888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A966660-6615-1BC2-0227-76FA3A73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🛵 The Regulars: Customers Who've Placed at Least One Order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61288" y="10789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customers who have placed at least one order.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161288" y="1444752"/>
            <a:ext cx="10497312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active, revenue-generating customers to prioritise for loyalty and retention programs.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5" name="Image 0" descr="/home/claude/swiggy/img/Screenshot_2026-09-08_14463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" y="2542032"/>
            <a:ext cx="5294376" cy="36301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9" name="Image 1" descr="/home/claude/swiggy/img/Screenshot_2026-09-08_14473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2542032"/>
            <a:ext cx="5294376" cy="3630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E8C548F9-77A5-7603-227B-D906ED7D48F6}"/>
              </a:ext>
            </a:extLst>
          </p:cNvPr>
          <p:cNvSpPr/>
          <p:nvPr/>
        </p:nvSpPr>
        <p:spPr>
          <a:xfrm>
            <a:off x="11150600" y="-175244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749DC1EB-C65E-678A-107F-8EC2A0C75172}"/>
              </a:ext>
            </a:extLst>
          </p:cNvPr>
          <p:cNvSpPr/>
          <p:nvPr/>
        </p:nvSpPr>
        <p:spPr>
          <a:xfrm>
            <a:off x="-299280" y="5735074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BA07730-C8D9-E1A8-F15B-700ED1209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7432" y="36592"/>
            <a:ext cx="731520" cy="7315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451C49F-3842-1341-BFD7-3BC78204E7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" y="5971032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63A3083F-19D8-5F1A-E324-C3D318AFD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📦 Order Count Roll Call: Total Orders per Customer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76960" y="1078992"/>
            <a:ext cx="1058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total number of orders placed by each customer.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76960" y="1444752"/>
            <a:ext cx="1058164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every customer by order frequency to personalise offers and re-engagement campaigns.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720000">
            <a:off x="45720" y="5943600"/>
            <a:ext cx="411480" cy="411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91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720000">
            <a:off x="4572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5" name="Image 0" descr="/home/claude/swiggy/img/Screenshot_2026-09-08_14480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8632" y="2542032"/>
            <a:ext cx="5294376" cy="36301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9" name="Image 1" descr="/home/claude/swiggy/img/Screenshot_2026-09-08_14485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2542032"/>
            <a:ext cx="5294376" cy="3630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73370B80-270F-DA54-35FE-409B391A36F1}"/>
              </a:ext>
            </a:extLst>
          </p:cNvPr>
          <p:cNvSpPr txBox="1"/>
          <p:nvPr/>
        </p:nvSpPr>
        <p:spPr>
          <a:xfrm>
            <a:off x="6492240" y="2542032"/>
            <a:ext cx="48920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0E1B0636-206F-FAEF-90F2-56F33AB2D23F}"/>
              </a:ext>
            </a:extLst>
          </p:cNvPr>
          <p:cNvSpPr/>
          <p:nvPr/>
        </p:nvSpPr>
        <p:spPr>
          <a:xfrm>
            <a:off x="-131640" y="5753362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FC14AF60-26C9-06A9-7408-B124C66AE24B}"/>
              </a:ext>
            </a:extLst>
          </p:cNvPr>
          <p:cNvSpPr/>
          <p:nvPr/>
        </p:nvSpPr>
        <p:spPr>
          <a:xfrm>
            <a:off x="11160662" y="-197842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695A9FB-D2D8-CF4C-BD8F-A740694BF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2402" y="19828"/>
            <a:ext cx="731520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09855B8-431D-0DCE-9623-642CC4BF2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152" y="5952744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2DC875C2-34DB-D32D-5330-CF769C6B6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💰 Show Me the Money: Revenue Generated by Each Restaurant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87120" y="1078992"/>
            <a:ext cx="10571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total revenue generated by each restaurant.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16000" y="1444752"/>
            <a:ext cx="1064260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7120" y="1444752"/>
            <a:ext cx="1038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restaurant partners by revenue contribution to guide commission strategy and key-partner focus.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" y="2542032"/>
            <a:ext cx="5294376" cy="3630168"/>
          </a:xfrm>
          <a:prstGeom prst="rect">
            <a:avLst/>
          </a:prstGeom>
          <a:solidFill>
            <a:srgbClr val="FFF4E8"/>
          </a:solidFill>
          <a:ln w="12700">
            <a:solidFill>
              <a:srgbClr val="FC8019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77240" y="2542032"/>
            <a:ext cx="48920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Screenshot space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to be added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2542032"/>
            <a:ext cx="5294376" cy="3630168"/>
          </a:xfrm>
          <a:prstGeom prst="rect">
            <a:avLst/>
          </a:prstGeom>
          <a:solidFill>
            <a:srgbClr val="FFF4E8"/>
          </a:solidFill>
          <a:ln w="12700">
            <a:solidFill>
              <a:srgbClr val="FC8019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492240" y="2542032"/>
            <a:ext cx="48920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7BF62E6-D941-D79C-2E08-40636F43B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33" y="2542032"/>
            <a:ext cx="5362912" cy="367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0550C56-2AD8-E4BC-0C50-1FDB8220D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153" y="2514091"/>
            <a:ext cx="5332295" cy="3703319"/>
          </a:xfrm>
          <a:prstGeom prst="rect">
            <a:avLst/>
          </a:prstGeom>
        </p:spPr>
      </p:pic>
      <p:sp>
        <p:nvSpPr>
          <p:cNvPr id="33" name="Shape 16">
            <a:extLst>
              <a:ext uri="{FF2B5EF4-FFF2-40B4-BE49-F238E27FC236}">
                <a16:creationId xmlns:a16="http://schemas.microsoft.com/office/drawing/2014/main" id="{2CADB3AE-2466-F03B-1A58-2E467042CE81}"/>
              </a:ext>
            </a:extLst>
          </p:cNvPr>
          <p:cNvSpPr/>
          <p:nvPr/>
        </p:nvSpPr>
        <p:spPr>
          <a:xfrm>
            <a:off x="11091672" y="-278712"/>
            <a:ext cx="1463040" cy="144000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75F1DA95-4064-3987-675F-916AD098D87C}"/>
              </a:ext>
            </a:extLst>
          </p:cNvPr>
          <p:cNvSpPr/>
          <p:nvPr/>
        </p:nvSpPr>
        <p:spPr>
          <a:xfrm>
            <a:off x="-502920" y="5808816"/>
            <a:ext cx="1463040" cy="144000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4F0D6F3-6C44-72AB-4E54-C4F3AA50F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4662" y="90096"/>
            <a:ext cx="731520" cy="7315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F73B87-C69A-96C6-7BF9-BC83DF2D19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1440" y="603967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6ED66FC1-E918-14DF-4168-29E2142E8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5" name="Shape 16">
            <a:extLst>
              <a:ext uri="{FF2B5EF4-FFF2-40B4-BE49-F238E27FC236}">
                <a16:creationId xmlns:a16="http://schemas.microsoft.com/office/drawing/2014/main" id="{2854896E-74D9-37D2-18FB-FD0EA71877BB}"/>
              </a:ext>
            </a:extLst>
          </p:cNvPr>
          <p:cNvSpPr/>
          <p:nvPr/>
        </p:nvSpPr>
        <p:spPr>
          <a:xfrm>
            <a:off x="10957560" y="-309192"/>
            <a:ext cx="1463040" cy="144000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9458892" cy="77724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🏆 Top 5 Crowd Favorites: Highest-Rated Restaurants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61288" y="10789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 5 restaurants with the highest average rating.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46480" y="1444752"/>
            <a:ext cx="1061212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the best-loved restaurants to feature them and build customer trust in the app.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5" name="Image 0" descr="/home/claude/swiggy/img/Screenshot_2026-09-08_14494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" y="2542032"/>
            <a:ext cx="5294376" cy="36301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9" name="Image 1" descr="/home/claude/swiggy/img/Screenshot_2026-09-08_14500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2531872"/>
            <a:ext cx="5294376" cy="3630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42A6A80-DF5D-0C13-7ECF-97891C0E43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7508" y="187292"/>
            <a:ext cx="731520" cy="731520"/>
          </a:xfrm>
          <a:prstGeom prst="rect">
            <a:avLst/>
          </a:prstGeom>
        </p:spPr>
      </p:pic>
      <p:sp>
        <p:nvSpPr>
          <p:cNvPr id="29" name="Shape 16">
            <a:extLst>
              <a:ext uri="{FF2B5EF4-FFF2-40B4-BE49-F238E27FC236}">
                <a16:creationId xmlns:a16="http://schemas.microsoft.com/office/drawing/2014/main" id="{18E4CF4F-3518-463C-4596-DED881B91573}"/>
              </a:ext>
            </a:extLst>
          </p:cNvPr>
          <p:cNvSpPr/>
          <p:nvPr/>
        </p:nvSpPr>
        <p:spPr>
          <a:xfrm>
            <a:off x="-610616" y="5747004"/>
            <a:ext cx="1463040" cy="144000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4F583-BC95-BE8E-C926-425C952A1F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51281" y="5952744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DC9A2FC-EF73-81AA-ACC7-B50A7E9D9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👻 Ghost Customers: Who Has Never Placed an Order?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56640" y="1078992"/>
            <a:ext cx="10601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customers who have never placed an order.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56640" y="1444752"/>
            <a:ext cx="1060196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dormant sign-ups so marketing can target them with reactivation offers.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720000">
            <a:off x="45720" y="5943600"/>
            <a:ext cx="411480" cy="411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91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720000">
            <a:off x="4572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5" name="Image 0" descr="/home/claude/swiggy/img/Screenshot_2026-09-08_1450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" y="2542032"/>
            <a:ext cx="5294376" cy="36301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9" name="Image 1" descr="/home/claude/swiggy/img/Screenshot_2026-09-08_14503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2542032"/>
            <a:ext cx="5294376" cy="3630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8366264-70DB-BF64-B5EE-852124FBFF5A}"/>
              </a:ext>
            </a:extLst>
          </p:cNvPr>
          <p:cNvSpPr/>
          <p:nvPr/>
        </p:nvSpPr>
        <p:spPr>
          <a:xfrm>
            <a:off x="-131640" y="5753362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FE22BD8E-F222-9726-1F09-D874C2EA46B9}"/>
              </a:ext>
            </a:extLst>
          </p:cNvPr>
          <p:cNvSpPr/>
          <p:nvPr/>
        </p:nvSpPr>
        <p:spPr>
          <a:xfrm>
            <a:off x="11181012" y="-142732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73BD8B4-9F8E-B0A7-4498-C9E2F3BC0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" y="5971032"/>
            <a:ext cx="731520" cy="7315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DF2C7F1-EAB5-EE90-393B-C3AEF54D65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7432" y="74938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F5D03CF-8738-F28E-6E73-A4B4DF60E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🌆 Mumbai Munchies: Orders Placed per Customer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87120" y="1078992"/>
            <a:ext cx="1057148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number of orders placed by each customer in 'Mumbai'.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87120" y="1444752"/>
            <a:ext cx="1057148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customer engagement within Mumbai specifically to fine-tune the local growth strategy.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🌮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720000">
            <a:off x="45720" y="5943600"/>
            <a:ext cx="411480" cy="411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91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720000">
            <a:off x="4572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5" name="Image 0" descr="/home/claude/swiggy/img/Screenshot_2026-09-08_14505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" y="2542032"/>
            <a:ext cx="5294376" cy="36301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9" name="Image 1" descr="/home/claude/swiggy/img/Screenshot_2026-09-08_14510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2542032"/>
            <a:ext cx="5294376" cy="3630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331B8D7C-0E33-F59B-E5C0-3472F2AB5B39}"/>
              </a:ext>
            </a:extLst>
          </p:cNvPr>
          <p:cNvSpPr/>
          <p:nvPr/>
        </p:nvSpPr>
        <p:spPr>
          <a:xfrm>
            <a:off x="-497976" y="5809930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C54D2ED1-B047-5289-0200-F4DEDD22EE68}"/>
              </a:ext>
            </a:extLst>
          </p:cNvPr>
          <p:cNvSpPr/>
          <p:nvPr/>
        </p:nvSpPr>
        <p:spPr>
          <a:xfrm>
            <a:off x="11201400" y="-197334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F469C04-F7F5-6758-4A6C-94B11AE24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8016" y="-30039"/>
            <a:ext cx="731520" cy="7315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759E255-B796-7B64-2B99-F42791F66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98696" y="59795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BC770AC-09DB-3437-C52A-3500282CF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🕐 Fresh Off the Stove: Orders in the Last 30 Days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87120" y="1078992"/>
            <a:ext cx="1057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orders placed in the last 30 days.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87120" y="1444752"/>
            <a:ext cx="1057148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7120" y="1444752"/>
            <a:ext cx="1038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recent order volume to monitor short-term demand and catch emerging trends early.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🍗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720000">
            <a:off x="45720" y="5943600"/>
            <a:ext cx="411480" cy="411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91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720000">
            <a:off x="4572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9" name="Image 1" descr="/home/claude/swiggy/img/Screenshot_2026-09-08_14522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2542032"/>
            <a:ext cx="5294376" cy="15016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C20FD175-29E0-D915-0FB5-A2A94349A7C7}"/>
              </a:ext>
            </a:extLst>
          </p:cNvPr>
          <p:cNvSpPr/>
          <p:nvPr/>
        </p:nvSpPr>
        <p:spPr>
          <a:xfrm>
            <a:off x="11181012" y="-187764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A58C924-947F-8437-274B-C02EEA42C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7432" y="29906"/>
            <a:ext cx="731520" cy="7315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1E20DD2-0F42-5117-6B1B-E84D2AECF6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33" y="2615184"/>
            <a:ext cx="5147067" cy="3630168"/>
          </a:xfrm>
          <a:prstGeom prst="rect">
            <a:avLst/>
          </a:prstGeom>
        </p:spPr>
      </p:pic>
      <p:sp>
        <p:nvSpPr>
          <p:cNvPr id="22" name="Shape 16">
            <a:extLst>
              <a:ext uri="{FF2B5EF4-FFF2-40B4-BE49-F238E27FC236}">
                <a16:creationId xmlns:a16="http://schemas.microsoft.com/office/drawing/2014/main" id="{4F597D15-1E6A-6A70-AC9D-C8B996E75246}"/>
              </a:ext>
            </a:extLst>
          </p:cNvPr>
          <p:cNvSpPr/>
          <p:nvPr/>
        </p:nvSpPr>
        <p:spPr>
          <a:xfrm>
            <a:off x="-299280" y="5809930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BCB45F8-F630-1657-204F-FF1F23E742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6027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BFB1136-D527-BDB0-2B3D-93CC3BD36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🚴 Delivery Heroes: Partners With More Than One Delivery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76960" y="1078992"/>
            <a:ext cx="10581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delivery partners who have completed more than 1 delivery.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76960" y="1444752"/>
            <a:ext cx="1058164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consistently reliable delivery partners for incentive and rewards programs.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🍣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720000">
            <a:off x="45720" y="5943600"/>
            <a:ext cx="411480" cy="411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91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720000">
            <a:off x="4572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63DCB371-2D71-E263-1023-30808C9C5401}"/>
              </a:ext>
            </a:extLst>
          </p:cNvPr>
          <p:cNvSpPr/>
          <p:nvPr/>
        </p:nvSpPr>
        <p:spPr>
          <a:xfrm>
            <a:off x="11181012" y="-142732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E6E6909-D2A8-7E83-76BA-0451B5528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2404" y="111938"/>
            <a:ext cx="731520" cy="7315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22BCC0-218C-9A17-1E7E-388D444B4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52" y="2596896"/>
            <a:ext cx="5225288" cy="3575304"/>
          </a:xfrm>
          <a:prstGeom prst="rect">
            <a:avLst/>
          </a:prstGeom>
        </p:spPr>
      </p:pic>
      <p:sp>
        <p:nvSpPr>
          <p:cNvPr id="22" name="Shape 16">
            <a:extLst>
              <a:ext uri="{FF2B5EF4-FFF2-40B4-BE49-F238E27FC236}">
                <a16:creationId xmlns:a16="http://schemas.microsoft.com/office/drawing/2014/main" id="{E1EE60BC-61B5-A121-CCC6-C3300A323BA3}"/>
              </a:ext>
            </a:extLst>
          </p:cNvPr>
          <p:cNvSpPr/>
          <p:nvPr/>
        </p:nvSpPr>
        <p:spPr>
          <a:xfrm>
            <a:off x="-497976" y="5809930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D2B7C8-CDB1-6EF6-B6B6-8D60D784A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12259" y="5948264"/>
            <a:ext cx="731520" cy="7315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87130E4-165E-3396-1F84-6B27ADC97C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484120"/>
            <a:ext cx="5276088" cy="3688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F077B55-3601-202A-8D78-D0AB6955B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📅 The Three-Day Loyalists: Orders on Exactly 3 Different Days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66800" y="1078992"/>
            <a:ext cx="1059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customers who have placed orders on exactly three different days.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66800" y="1444752"/>
            <a:ext cx="1059180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6800" y="1444752"/>
            <a:ext cx="1040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loyal, habit-forming customer cohort worth targeted, personalised engagement.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720000">
            <a:off x="45720" y="5943600"/>
            <a:ext cx="411480" cy="411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91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720000">
            <a:off x="4572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15" name="Image 0" descr="/home/claude/swiggy/img/Screenshot_2026-09-08_14540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" y="2542032"/>
            <a:ext cx="5294376" cy="36301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74D6286D-29B3-C637-2B97-2FD87D104B81}"/>
              </a:ext>
            </a:extLst>
          </p:cNvPr>
          <p:cNvSpPr/>
          <p:nvPr/>
        </p:nvSpPr>
        <p:spPr>
          <a:xfrm>
            <a:off x="-350384" y="5871792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FD48FF2C-8C1D-59B4-15CC-B65D5DF9B8E4}"/>
              </a:ext>
            </a:extLst>
          </p:cNvPr>
          <p:cNvSpPr/>
          <p:nvPr/>
        </p:nvSpPr>
        <p:spPr>
          <a:xfrm>
            <a:off x="11181012" y="-142732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CA2628F-20B7-37CA-C6CC-17FC6AE79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1380" y="87554"/>
            <a:ext cx="731520" cy="7315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A18BA3-E2A7-2260-7BF3-6DA1889FF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4008" y="6089462"/>
            <a:ext cx="731520" cy="7315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45D3751-4C13-1069-57CE-4CEE7237B9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3879" y="2503116"/>
            <a:ext cx="5388762" cy="370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7469457-2068-764F-D65D-26387B9B6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🗺️ Most-Traveled Partner: Widest Customer Reach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61288" y="1078992"/>
            <a:ext cx="104973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delivery partner who has worked with the most different customers.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56640" y="1444752"/>
            <a:ext cx="10601960" cy="457200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delivery partner serving the most distinct customers, useful for route and territory planning.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600000">
            <a:off x="11594592" y="5486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C8019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600000">
            <a:off x="11594592" y="54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🍪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720000">
            <a:off x="45720" y="5943600"/>
            <a:ext cx="411480" cy="411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F91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720000">
            <a:off x="4572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" y="2542032"/>
            <a:ext cx="5294376" cy="3630168"/>
          </a:xfrm>
          <a:prstGeom prst="rect">
            <a:avLst/>
          </a:prstGeom>
          <a:solidFill>
            <a:srgbClr val="FFF4E8"/>
          </a:solidFill>
          <a:ln w="12700">
            <a:solidFill>
              <a:srgbClr val="FC8019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77240" y="2542032"/>
            <a:ext cx="48920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Screenshot space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to be added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A5F167-4E0F-2D64-CF27-793C0374E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1" y="2542031"/>
            <a:ext cx="5313382" cy="3643200"/>
          </a:xfrm>
          <a:prstGeom prst="rect">
            <a:avLst/>
          </a:prstGeom>
        </p:spPr>
      </p:pic>
      <p:sp>
        <p:nvSpPr>
          <p:cNvPr id="24" name="Shape 16">
            <a:extLst>
              <a:ext uri="{FF2B5EF4-FFF2-40B4-BE49-F238E27FC236}">
                <a16:creationId xmlns:a16="http://schemas.microsoft.com/office/drawing/2014/main" id="{605EBCE6-7A44-2985-AF85-A41F43A7B5D5}"/>
              </a:ext>
            </a:extLst>
          </p:cNvPr>
          <p:cNvSpPr/>
          <p:nvPr/>
        </p:nvSpPr>
        <p:spPr>
          <a:xfrm>
            <a:off x="-413580" y="5908810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EC8D0DF-4A98-3C56-4BC1-2A982A3130D4}"/>
              </a:ext>
            </a:extLst>
          </p:cNvPr>
          <p:cNvSpPr/>
          <p:nvPr/>
        </p:nvSpPr>
        <p:spPr>
          <a:xfrm>
            <a:off x="11201400" y="-229600"/>
            <a:ext cx="1330080" cy="116686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9CDCD7E-F1C4-D3F0-E1CC-0EC6EC0B1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9790" y="6060800"/>
            <a:ext cx="731520" cy="7315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68576F5-F5BA-C096-0A37-072C497C5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6772" y="36953"/>
            <a:ext cx="731520" cy="731520"/>
          </a:xfrm>
          <a:prstGeom prst="rect">
            <a:avLst/>
          </a:prstGeom>
        </p:spPr>
      </p:pic>
      <p:sp>
        <p:nvSpPr>
          <p:cNvPr id="32" name="Shape 15">
            <a:extLst>
              <a:ext uri="{FF2B5EF4-FFF2-40B4-BE49-F238E27FC236}">
                <a16:creationId xmlns:a16="http://schemas.microsoft.com/office/drawing/2014/main" id="{D85EA58F-888C-1BB1-667F-FF2650B666E6}"/>
              </a:ext>
            </a:extLst>
          </p:cNvPr>
          <p:cNvSpPr/>
          <p:nvPr/>
        </p:nvSpPr>
        <p:spPr>
          <a:xfrm>
            <a:off x="6217920" y="248412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99BBA9C-F530-692C-E71F-1F1B759B95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2" y="2542032"/>
            <a:ext cx="5367526" cy="14102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1B82D78-D69C-22FA-5608-42C714E68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384" y="-21336"/>
            <a:ext cx="1776413" cy="315806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365760"/>
            <a:ext cx="658368" cy="65836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19456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200" b="1" dirty="0">
              <a:solidFill>
                <a:srgbClr val="282C3F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82C3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🔁 Déjà Food: Same City, Same Restaurant, Different Dates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26160" y="1078992"/>
            <a:ext cx="10632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Q13:  </a:t>
            </a: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customers who have the same city and have placed orders at the same restaurants, but on different dates.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26160" y="1444752"/>
            <a:ext cx="10632440" cy="420402"/>
          </a:xfrm>
          <a:prstGeom prst="roundRect">
            <a:avLst>
              <a:gd name="adj" fmla="val 20000"/>
            </a:avLst>
          </a:prstGeom>
          <a:solidFill>
            <a:srgbClr val="FFF4E8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1444752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 </a:t>
            </a:r>
            <a:r>
              <a:rPr lang="en-US" sz="12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repeat-visit patterns within a city to strengthen restaurant partnerships and predict demand.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" y="2542032"/>
            <a:ext cx="5294376" cy="3630168"/>
          </a:xfrm>
          <a:prstGeom prst="rect">
            <a:avLst/>
          </a:prstGeom>
          <a:solidFill>
            <a:srgbClr val="FFF4E8"/>
          </a:solidFill>
          <a:ln w="12700">
            <a:solidFill>
              <a:srgbClr val="FC8019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77240" y="2542032"/>
            <a:ext cx="48920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Screenshot space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D6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to be added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08483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C801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440680" cy="377647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2542032"/>
            <a:ext cx="5294376" cy="3630168"/>
          </a:xfrm>
          <a:prstGeom prst="rect">
            <a:avLst/>
          </a:prstGeom>
          <a:solidFill>
            <a:srgbClr val="FFF4E8"/>
          </a:solidFill>
          <a:ln w="12700">
            <a:solidFill>
              <a:srgbClr val="FC8019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492240" y="2542032"/>
            <a:ext cx="48920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6665140-7A1D-8A67-9350-640B99813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04" y="2532436"/>
            <a:ext cx="5364478" cy="367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D93477D-1B7A-643C-1A82-534CF9078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79" y="2542032"/>
            <a:ext cx="5379562" cy="3680444"/>
          </a:xfrm>
          <a:prstGeom prst="rect">
            <a:avLst/>
          </a:prstGeom>
        </p:spPr>
      </p:pic>
      <p:sp>
        <p:nvSpPr>
          <p:cNvPr id="29" name="Shape 16">
            <a:extLst>
              <a:ext uri="{FF2B5EF4-FFF2-40B4-BE49-F238E27FC236}">
                <a16:creationId xmlns:a16="http://schemas.microsoft.com/office/drawing/2014/main" id="{8FABFA1D-7ED6-E750-42B9-7D5AC1B95E3B}"/>
              </a:ext>
            </a:extLst>
          </p:cNvPr>
          <p:cNvSpPr/>
          <p:nvPr/>
        </p:nvSpPr>
        <p:spPr>
          <a:xfrm>
            <a:off x="11091672" y="-185007"/>
            <a:ext cx="1463040" cy="144000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5A02403-B5AF-251B-2E55-853183D97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9407" y="197639"/>
            <a:ext cx="731520" cy="731520"/>
          </a:xfrm>
          <a:prstGeom prst="rect">
            <a:avLst/>
          </a:prstGeom>
        </p:spPr>
      </p:pic>
      <p:sp>
        <p:nvSpPr>
          <p:cNvPr id="33" name="Shape 16">
            <a:extLst>
              <a:ext uri="{FF2B5EF4-FFF2-40B4-BE49-F238E27FC236}">
                <a16:creationId xmlns:a16="http://schemas.microsoft.com/office/drawing/2014/main" id="{492DA822-54A8-FAC7-6BED-1E9ED89D957F}"/>
              </a:ext>
            </a:extLst>
          </p:cNvPr>
          <p:cNvSpPr/>
          <p:nvPr/>
        </p:nvSpPr>
        <p:spPr>
          <a:xfrm>
            <a:off x="-582100" y="5721345"/>
            <a:ext cx="1463040" cy="1440000"/>
          </a:xfrm>
          <a:prstGeom prst="ellipse">
            <a:avLst/>
          </a:prstGeom>
          <a:solidFill>
            <a:srgbClr val="FF711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B962ACB-AAD6-762B-7119-80CB42A470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8644" y="5943148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">
            <a:extLst>
              <a:ext uri="{FF2B5EF4-FFF2-40B4-BE49-F238E27FC236}">
                <a16:creationId xmlns:a16="http://schemas.microsoft.com/office/drawing/2014/main" id="{895FAC70-9C46-418E-CCE7-4AD3824F9AD4}"/>
              </a:ext>
            </a:extLst>
          </p:cNvPr>
          <p:cNvSpPr/>
          <p:nvPr/>
        </p:nvSpPr>
        <p:spPr>
          <a:xfrm>
            <a:off x="548640" y="1137920"/>
            <a:ext cx="11155680" cy="508000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9050">
            <a:solidFill>
              <a:srgbClr val="FC8019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/>
              <a:t>AI Assistance: </a:t>
            </a:r>
            <a:r>
              <a:rPr lang="en-US" sz="2000" dirty="0"/>
              <a:t>Claude AI was used as a supporting tool for brainstorming, presentation design, and creating the chatbot visual concept.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/>
              <a:t>Image Credits: </a:t>
            </a:r>
            <a:r>
              <a:rPr lang="en-US" sz="2000" dirty="0"/>
              <a:t>Food-related images used in the presentation were sourced from Pinterest for visual representation.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/>
              <a:t>My Contribution </a:t>
            </a:r>
            <a:r>
              <a:rPr lang="en-US" sz="2000" dirty="0"/>
              <a:t>: I worked on the SQL queries and analysis, interpreted the results, and put together the final presentation based on my understanding of the case study.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5E159E-7F98-4475-3841-271958C25A71}"/>
              </a:ext>
            </a:extLst>
          </p:cNvPr>
          <p:cNvSpPr txBox="1"/>
          <p:nvPr/>
        </p:nvSpPr>
        <p:spPr>
          <a:xfrm>
            <a:off x="528320" y="546081"/>
            <a:ext cx="6096000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omic Sans MS" panose="030F0702030302020204" pitchFamily="66" charset="0"/>
              </a:rPr>
              <a:t>TOOLS &amp; CREDITS:</a:t>
            </a:r>
          </a:p>
        </p:txBody>
      </p:sp>
    </p:spTree>
    <p:extLst>
      <p:ext uri="{BB962C8B-B14F-4D97-AF65-F5344CB8AC3E}">
        <p14:creationId xmlns:p14="http://schemas.microsoft.com/office/powerpoint/2010/main" val="4226326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C3417A7-1AAB-5094-9B8F-0231CB582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233681"/>
            <a:ext cx="11948159" cy="6522720"/>
          </a:xfrm>
          <a:prstGeom prst="rect">
            <a:avLst/>
          </a:prstGeom>
        </p:spPr>
      </p:pic>
      <p:sp>
        <p:nvSpPr>
          <p:cNvPr id="21" name="Shape 19"/>
          <p:cNvSpPr/>
          <p:nvPr/>
        </p:nvSpPr>
        <p:spPr>
          <a:xfrm>
            <a:off x="2191410" y="4709160"/>
            <a:ext cx="7743185" cy="621792"/>
          </a:xfrm>
          <a:prstGeom prst="roundRect">
            <a:avLst>
              <a:gd name="adj" fmla="val 4705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07432" y="459486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Bon appétit — may your queries always JOIN cleanly! 🍜✨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04862" y="4925978"/>
            <a:ext cx="10698480" cy="51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Swiggy SQL Analytics  </a:t>
            </a:r>
            <a:endParaRPr lang="en-US" sz="1600" dirty="0"/>
          </a:p>
        </p:txBody>
      </p: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7A11CDC2-90FD-8071-3216-38E6B0E6CEEA}"/>
              </a:ext>
            </a:extLst>
          </p:cNvPr>
          <p:cNvSpPr/>
          <p:nvPr/>
        </p:nvSpPr>
        <p:spPr>
          <a:xfrm>
            <a:off x="4175760" y="1412749"/>
            <a:ext cx="3799840" cy="548131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ysClr val="windowText" lastClr="000000"/>
                </a:solidFill>
                <a:latin typeface="Segoe Script" panose="030B0504020000000003" pitchFamily="66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908</Words>
  <Application>Microsoft Office PowerPoint</Application>
  <PresentationFormat>Widescreen</PresentationFormat>
  <Paragraphs>170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Comic Sans MS</vt:lpstr>
      <vt:lpstr>Franklin Gothic Medium</vt:lpstr>
      <vt:lpstr>Segoe Script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varshitha1811@outlook.com</cp:lastModifiedBy>
  <cp:revision>7</cp:revision>
  <dcterms:created xsi:type="dcterms:W3CDTF">2026-09-08T09:54:59Z</dcterms:created>
  <dcterms:modified xsi:type="dcterms:W3CDTF">2026-09-11T09:09:06Z</dcterms:modified>
</cp:coreProperties>
</file>